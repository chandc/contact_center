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983"/>
    <p:restoredTop sz="94610"/>
  </p:normalViewPr>
  <p:slideViewPr>
    <p:cSldViewPr snapToGrid="0" snapToObjects="1">
      <p:cViewPr varScale="1">
        <p:scale>
          <a:sx n="342" d="100"/>
          <a:sy n="342" d="100"/>
        </p:scale>
        <p:origin x="168" y="2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9403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Utterance Clustering Pipeline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Raw Text to Labeled Intent Clusters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31520" y="2743200"/>
            <a:ext cx="3200400" cy="0"/>
          </a:xfrm>
          <a:prstGeom prst="line">
            <a:avLst/>
          </a:prstGeom>
          <a:noFill/>
          <a:ln w="254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31520" y="3200400"/>
            <a:ext cx="1828800" cy="822960"/>
          </a:xfrm>
          <a:prstGeom prst="rect">
            <a:avLst/>
          </a:prstGeom>
          <a:solidFill>
            <a:srgbClr val="1E293B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14B8A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280160" y="320040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743200" y="3200400"/>
            <a:ext cx="1828800" cy="822960"/>
          </a:xfrm>
          <a:prstGeom prst="rect">
            <a:avLst/>
          </a:prstGeom>
          <a:solidFill>
            <a:srgbClr val="1E293B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743200" y="320040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7C3AE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291840" y="320040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754880" y="3200400"/>
            <a:ext cx="1828800" cy="822960"/>
          </a:xfrm>
          <a:prstGeom prst="rect">
            <a:avLst/>
          </a:prstGeom>
          <a:solidFill>
            <a:srgbClr val="1E293B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754880" y="320040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EC48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5303520" y="320040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766560" y="3200400"/>
            <a:ext cx="1828800" cy="822960"/>
          </a:xfrm>
          <a:prstGeom prst="rect">
            <a:avLst/>
          </a:prstGeom>
          <a:solidFill>
            <a:srgbClr val="1E293B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766560" y="320040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22C55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7315200" y="320040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31520" y="43891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→ Clustering → Evaluation → Labeling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Pipeline Overview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flow from raw utterances to a labeled intent taxonomy</a:t>
            </a:r>
            <a:endParaRPr lang="en-US" sz="13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97280"/>
            <a:ext cx="859536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182880"/>
            <a:ext cx="640080" cy="457200"/>
          </a:xfrm>
          <a:prstGeom prst="rect">
            <a:avLst/>
          </a:prstGeom>
          <a:solidFill>
            <a:srgbClr val="14B8A6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280160" y="1828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Sentence Embedding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80160" y="640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 natural language into dense vector representations</a:t>
            </a:r>
            <a:endParaRPr lang="en-US" sz="13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51560"/>
            <a:ext cx="859536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182880"/>
            <a:ext cx="640080" cy="457200"/>
          </a:xfrm>
          <a:prstGeom prst="rect">
            <a:avLst/>
          </a:prstGeom>
          <a:solidFill>
            <a:srgbClr val="14B8A6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280160" y="1828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Sentence Transformers Work</a:t>
            </a:r>
            <a:endParaRPr lang="en-US" sz="28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822960"/>
            <a:ext cx="4754880" cy="29718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212080" y="822960"/>
            <a:ext cx="3657600" cy="297180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5394960" y="9144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4B8A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Model Details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394960" y="1371600"/>
            <a:ext cx="3291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all-MiniLM-L6-v2</a:t>
            </a:r>
            <a:endParaRPr lang="en-US" sz="12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</a:rPr>
              <a:t>6-layer transformer, 22M params
Fast inference, strong quality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BGE-base-en-v1.5</a:t>
            </a:r>
            <a:endParaRPr lang="en-US" sz="12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</a:rPr>
              <a:t>12-layer, 110M params
Higher quality, slower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F97316"/>
                </a:solidFill>
              </a:rPr>
              <a:t>Key Concept:</a:t>
            </a:r>
            <a:endParaRPr lang="en-US" sz="12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Mean pooling averages all token embeddings into a single fixed-size vector for the entire sentence.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57200" y="3977640"/>
            <a:ext cx="8229600" cy="777240"/>
          </a:xfrm>
          <a:prstGeom prst="rect">
            <a:avLst/>
          </a:prstGeom>
          <a:solidFill>
            <a:srgbClr val="1E293B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731520" y="402336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B8A6"/>
                </a:solidFill>
              </a:rPr>
              <a:t>Why Sentence Transformers?  </a:t>
            </a:r>
            <a:r>
              <a:rPr lang="en-US" sz="1100" dirty="0">
                <a:solidFill>
                  <a:srgbClr val="CADCFC"/>
                </a:solidFill>
              </a:rPr>
              <a:t>Unlike word2vec or bag-of-words, these models capture full semantic meaning. "How do I reset my password?" and "I can't log in" are nearby in vector space because they share intent, even with zero word overlap.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Dimensionality Reduction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UMAP preserves local neighborhood structure while reducing 384 dims to 2D for visualization</a:t>
            </a:r>
            <a:endParaRPr lang="en-US" sz="13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51560"/>
            <a:ext cx="859536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182880"/>
            <a:ext cx="640080" cy="457200"/>
          </a:xfrm>
          <a:prstGeom prst="rect">
            <a:avLst/>
          </a:prstGeom>
          <a:solidFill>
            <a:srgbClr val="7C3AED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280160" y="1828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Clustering with HDBSCAN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280160" y="640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Density-based clustering that automatically finds the right number of groups</a:t>
            </a:r>
            <a:endParaRPr lang="en-US" sz="13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005840"/>
            <a:ext cx="4846320" cy="3017520"/>
          </a:xfrm>
          <a:prstGeom prst="rect">
            <a:avLst/>
          </a:prstGeom>
        </p:spPr>
      </p:pic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1005840"/>
            <a:ext cx="3931920" cy="30175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57200" y="4114800"/>
            <a:ext cx="8229600" cy="731520"/>
          </a:xfrm>
          <a:prstGeom prst="rect">
            <a:avLst/>
          </a:prstGeom>
          <a:solidFill>
            <a:srgbClr val="1E293B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548640" y="41605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</a:rPr>
              <a:t>Why HDBSCAN?  </a:t>
            </a:r>
            <a:r>
              <a:rPr lang="en-US" sz="1100" dirty="0">
                <a:solidFill>
                  <a:srgbClr val="CADCFC"/>
                </a:solidFill>
              </a:rPr>
              <a:t>It doesn't require you to guess k (the number of clusters) upfront. It builds a hierarchy of density-based clusters, extracts the most stable ones, and gracefully labels outliers as noise — perfect for messy real-world data.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Clustering Algorithm Comparison</a:t>
            </a:r>
            <a:endParaRPr lang="en-US" sz="28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77240"/>
            <a:ext cx="859536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182880"/>
            <a:ext cx="640080" cy="457200"/>
          </a:xfrm>
          <a:prstGeom prst="rect">
            <a:avLst/>
          </a:prstGeom>
          <a:solidFill>
            <a:srgbClr val="EC4899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280160" y="1828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Evaluation Against Ground Truth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280160" y="640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clustering quality using ARI and NMI</a:t>
            </a:r>
            <a:endParaRPr lang="en-US" sz="13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51560"/>
            <a:ext cx="859536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Metrics Deep Dive: ARI &amp; NMI</a:t>
            </a:r>
            <a:endParaRPr lang="en-US" sz="28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77240"/>
            <a:ext cx="859536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182880"/>
            <a:ext cx="640080" cy="457200"/>
          </a:xfrm>
          <a:prstGeom prst="rect">
            <a:avLst/>
          </a:prstGeom>
          <a:solidFill>
            <a:srgbClr val="22C55E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280160" y="1828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Cluster Labeling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280160" y="640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anonymous cluster IDs into meaningful, human-readable intent names</a:t>
            </a:r>
            <a:endParaRPr lang="en-US" sz="13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51560"/>
            <a:ext cx="859536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Python Implementation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pipeline in ~20 lines of Python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5303520" cy="3931920"/>
          </a:xfrm>
          <a:prstGeom prst="rect">
            <a:avLst/>
          </a:prstGeom>
          <a:solidFill>
            <a:srgbClr val="1A1A2E"/>
          </a:solidFill>
          <a:ln/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51560"/>
            <a:ext cx="48463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Embed utterances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sentence_transformers import SentenceTransformer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= SentenceTransformer('all-MiniLM-L6-v2')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embeddings = model.encode(utterances)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Reduce dimensions (optional)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umap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reduced = umap.UMAP(n_components=50).fit_transform(embeddings)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Cluster with HDBSCAN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hdbscan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labels = hdbscan.HDBSCAN(min_cluster_size=15).fit_predict(reduced)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Evaluate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sklearn.metrics import adjusted_rand_score, normalized_mutual_info_score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ari = adjusted_rand_score(gt_labels, labels)</a:t>
            </a:r>
            <a:endParaRPr lang="en-US" sz="9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nmi = normalized_mutual_info_score(gt_labels, labels)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943600" y="960120"/>
            <a:ext cx="2926080" cy="393192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126480" y="10515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4B8A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Key Libraries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126480" y="1463040"/>
            <a:ext cx="2560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sentence-transformers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HuggingFace-based embedding
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hdbscan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Density-based clustering
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umap-learn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Dimensionality reduction
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scikit-learn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Metrics (ARI, NMI, Silhouette)
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F97316"/>
                </a:solidFill>
              </a:rPr>
              <a:t>pip install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</a:rPr>
              <a:t>sentence-transformers hdbscan umap-learn scikit-learn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182880"/>
            <a:ext cx="640080" cy="457200"/>
          </a:xfrm>
          <a:prstGeom prst="rect">
            <a:avLst/>
          </a:prstGeom>
          <a:solidFill>
            <a:srgbClr val="F97316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280160" y="1828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Fine-Tuning: Why &amp; How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280160" y="640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Adapting a pre-trained sentence transformer to your domain dramatically improves cluster quality</a:t>
            </a:r>
            <a:endParaRPr lang="en-US" sz="13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51560"/>
            <a:ext cx="859536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182880"/>
            <a:ext cx="640080" cy="457200"/>
          </a:xfrm>
          <a:prstGeom prst="rect">
            <a:avLst/>
          </a:prstGeom>
          <a:solidFill>
            <a:srgbClr val="F97316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280160" y="1828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Constructing Training Pairs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280160" y="640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strategies for building (anchor, positive) pairs from your labeled data</a:t>
            </a:r>
            <a:endParaRPr lang="en-US" sz="13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51560"/>
            <a:ext cx="859536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182880"/>
            <a:ext cx="640080" cy="457200"/>
          </a:xfrm>
          <a:prstGeom prst="rect">
            <a:avLst/>
          </a:prstGeom>
          <a:solidFill>
            <a:srgbClr val="F97316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280160" y="1828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MultipleNegativesRankingLoss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280160" y="640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go-to contrastive loss for sentence transformer fine-tuning — free negatives from each batch</a:t>
            </a:r>
            <a:endParaRPr lang="en-US" sz="13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51560"/>
            <a:ext cx="859536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Fine-Tuning: Python Code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fine-tuning setup with sentence-transformers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5303520" cy="3931920"/>
          </a:xfrm>
          <a:prstGeom prst="rect">
            <a:avLst/>
          </a:prstGeom>
          <a:solidFill>
            <a:srgbClr val="1A1A2E"/>
          </a:solidFill>
          <a:ln/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51560"/>
            <a:ext cx="48463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Build training pairs from labeled data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sentence_transformers import (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SentenceTransformer, InputExample, losses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torch.utils.data import DataLoader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pairs = []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intent, utts in grouped_by_intent.items():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a, b in combinations(utts, 2):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pairs.append(InputExample(texts=[a, b]))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loader = DataLoader(pairs, batch_size=128, shuffle=True)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Load base model + MNR loss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= SentenceTransformer('all-MiniLM-L6-v2')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loss = losses.MultipleNegativesRankingLoss(model)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Fine-tune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model.fit(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train_objectives=[(loader, loss)],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epochs=3,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warmup_steps=100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8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model.save("finetuned-model")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943600" y="960120"/>
            <a:ext cx="2926080" cy="3931920"/>
          </a:xfrm>
          <a:prstGeom prst="rect">
            <a:avLst/>
          </a:prstGeom>
          <a:solidFill>
            <a:srgbClr val="1E293B"/>
          </a:solidFill>
          <a:ln/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126480" y="10515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F9731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It Works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126480" y="1463040"/>
            <a:ext cx="2560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Step 1: Pair Mining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Sample all (a, b) from the same intent label using combinations
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Step 2: Loss Function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MNR Loss treats other pairs in the batch as automatic negatives
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Step 3: Training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1-3 epochs is usually sufficient; use warmup to stabilize early training
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F97316"/>
                </a:solidFill>
              </a:rPr>
              <a:t>Batch size matters!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</a:rPr>
              <a:t>Larger batch = more in-batch negatives = better contrastive signal. Use 128+ if GPU memory allows.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Summary &amp; Next Steps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685800"/>
          </a:xfrm>
          <a:prstGeom prst="rect">
            <a:avLst/>
          </a:prstGeom>
          <a:solidFill>
            <a:srgbClr val="1E293B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822960"/>
            <a:ext cx="685800" cy="68580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371600" y="8229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4B8A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Embed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834640" y="822960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 transformers capture semantic meaning in 384-dim vectors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1481328"/>
            <a:ext cx="8229600" cy="685800"/>
          </a:xfrm>
          <a:prstGeom prst="rect">
            <a:avLst/>
          </a:prstGeom>
          <a:solidFill>
            <a:srgbClr val="1E293B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7200" y="1481328"/>
            <a:ext cx="685800" cy="68580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1481328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371600" y="1481328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7C3AE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Cluster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834640" y="1481328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HDBSCAN finds natural groups without specifying k; handles noise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2139696"/>
            <a:ext cx="8229600" cy="685800"/>
          </a:xfrm>
          <a:prstGeom prst="rect">
            <a:avLst/>
          </a:prstGeom>
          <a:solidFill>
            <a:srgbClr val="1E293B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57200" y="2139696"/>
            <a:ext cx="685800" cy="685800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7200" y="2139696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371600" y="2139696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EC48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Evaluate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2834640" y="2139696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 &amp; NMI measure quality vs ground-truth labels; score &gt; 0.8 = excellent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2798064"/>
            <a:ext cx="8229600" cy="685800"/>
          </a:xfrm>
          <a:prstGeom prst="rect">
            <a:avLst/>
          </a:prstGeom>
          <a:solidFill>
            <a:srgbClr val="1E293B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57200" y="2798064"/>
            <a:ext cx="685800" cy="685800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57200" y="2798064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371600" y="2798064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22C55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Label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2834640" y="2798064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for fast keyword labels; LLM prompting for richer descriptions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" y="3456432"/>
            <a:ext cx="8229600" cy="685800"/>
          </a:xfrm>
          <a:prstGeom prst="rect">
            <a:avLst/>
          </a:prstGeom>
          <a:solidFill>
            <a:srgbClr val="1E293B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57200" y="3456432"/>
            <a:ext cx="685800" cy="68580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57200" y="345643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FT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1371600" y="3456432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9731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Fine-Tune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2834640" y="3456432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MNR Loss + in-batch negatives to adapt embeddings to your domain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57200" y="4206240"/>
            <a:ext cx="8229600" cy="594360"/>
          </a:xfrm>
          <a:prstGeom prst="rect">
            <a:avLst/>
          </a:prstGeom>
          <a:solidFill>
            <a:srgbClr val="14B8A6">
              <a:alpha val="15000"/>
            </a:srgbClr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731520" y="4206240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B8A6"/>
                </a:solidFill>
              </a:rPr>
              <a:t>Ready to build?  </a:t>
            </a:r>
            <a:r>
              <a:rPr lang="en-US" sz="1200" dirty="0">
                <a:solidFill>
                  <a:srgbClr val="CADCFC"/>
                </a:solidFill>
              </a:rPr>
              <a:t>Upload your dataset and we can run the full pipeline — embedding, fine-tuning, clustering, and visualization.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824</Words>
  <Application>Microsoft Macintosh PowerPoint</Application>
  <PresentationFormat>On-screen Show (16:9)</PresentationFormat>
  <Paragraphs>147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Arial Black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Utterance Clustering Pipeline</dc:title>
  <dc:subject>PptxGenJS Presentation</dc:subject>
  <dc:creator>Daniel</dc:creator>
  <cp:lastModifiedBy>Chan, Daniel C</cp:lastModifiedBy>
  <cp:revision>1</cp:revision>
  <dcterms:created xsi:type="dcterms:W3CDTF">2026-02-15T20:18:50Z</dcterms:created>
  <dcterms:modified xsi:type="dcterms:W3CDTF">2026-02-15T20:26:27Z</dcterms:modified>
</cp:coreProperties>
</file>