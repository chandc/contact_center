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65" r:id="rId11"/>
    <p:sldId id="266" r:id="rId12"/>
    <p:sldId id="267" r:id="rId13"/>
    <p:sldId id="268" r:id="rId14"/>
    <p:sldId id="269" r:id="rId15"/>
    <p:sldId id="270" r:id="rId16"/>
    <p:sldId id="274" r:id="rId25"/>
    <p:sldId id="275" r:id="rId2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983"/>
    <p:restoredTop sz="94610"/>
  </p:normalViewPr>
  <p:slideViewPr>
    <p:cSldViewPr snapToGrid="0" snapToObjects="1">
      <p:cViewPr varScale="1">
        <p:scale>
          <a:sx n="342" d="100"/>
          <a:sy n="342" d="100"/>
        </p:scale>
        <p:origin x="168" y="2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40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Utterance Clustering Pipeline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Text to Labeled Intent Clusters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2004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8016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9184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30352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76656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6656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31520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→ Clustering → Evaluation → Labeling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Pipeline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from raw utterances to a labeled intent taxonomy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728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14B8A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Sentence Embedding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natural language into dense vector representations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14B8A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Sentence Transformers Work</a:t>
            </a:r>
            <a:endParaRPr lang="en-US" sz="2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22960"/>
            <a:ext cx="4754880" cy="2971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12080" y="822960"/>
            <a:ext cx="3657600" cy="29718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394960" y="914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Details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394960" y="137160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all-MiniLM-L6-v2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6-layer transformer, 22M params
Fast inference, strong quality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BGE-base-en-v1.5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12-layer, 110M params
Higher quality, slower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</a:rPr>
              <a:t>Key Concept: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Mean pooling averages all token embeddings into a single fixed-size vector for the entire sentence.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31520" y="40233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Why Sentence Transformers?  </a:t>
            </a:r>
            <a:r>
              <a:rPr lang="en-US" sz="1100" dirty="0">
                <a:solidFill>
                  <a:srgbClr val="CADCFC"/>
                </a:solidFill>
              </a:rPr>
              <a:t>Unlike word2vec or bag-of-words, these models capture full semantic meaning. "How do I reset my password?" and "I can't log in" are nearby in vector space because they share intent, even with zero word overlap.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Dimensionality Reduction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preserves local neighborhood structure while reducing 384 dims to 2D for visualization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7C3AE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Clustering with HDBSCAN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Density-based clustering that automatically finds the right number of groups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05840"/>
            <a:ext cx="4846320" cy="3017520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05840"/>
            <a:ext cx="393192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48640" y="4160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</a:rPr>
              <a:t>Why HDBSCAN?  </a:t>
            </a:r>
            <a:r>
              <a:rPr lang="en-US" sz="1100" dirty="0">
                <a:solidFill>
                  <a:srgbClr val="CADCFC"/>
                </a:solidFill>
              </a:rPr>
              <a:t>It doesn't require you to guess k (the number of clusters) upfront. It builds a hierarchy of density-based clusters, extracts the most stable ones, and gracefully labels outliers as noise — perfect for messy real-world data.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Clustering Algorithm Comparison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EC4899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Against Ground Truth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clustering quality using ARI and NMI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Metrics Deep Dive: ARI &amp; NMI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FFFFFF"/>
                </a:solidFill>
                <a:latin typeface="Arial Black"/>
              </a:rPr>
              <a:t>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  <a:latin typeface="Arial Black"/>
              </a:rPr>
              <a:t>v2 Pipeline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4A3B8"/>
                </a:solidFill>
                <a:latin typeface="Calibri"/>
              </a:rPr>
              <a:t>Key methodological and performance improvements over the baseline clustering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51560"/>
            <a:ext cx="402336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201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C3AED"/>
                </a:solidFill>
                <a:latin typeface="Arial Black"/>
              </a:rPr>
              <a:t>DBCV-Based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384048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Replaced ARI (circular, uses labels) with DBCV — an internal validity metric that evaluates clustering quality from data geometry alone, with no label leakage.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051560"/>
            <a:ext cx="402336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201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4B8A6"/>
                </a:solidFill>
                <a:latin typeface="Arial Black"/>
              </a:rPr>
              <a:t>3D Parameter Sweep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325880"/>
            <a:ext cx="384048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Expanded from 5 configs (min_cluster_size only) to 64 configs (min_cluster_size x min_samples x epsilon). Constrained to &lt;= 30 clusters.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14600"/>
            <a:ext cx="402336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5831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C4899"/>
                </a:solidFill>
                <a:latin typeface="Arial Black"/>
              </a:rPr>
              <a:t>Full-Dataset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88920"/>
            <a:ext cx="384048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Noise points assigned via approximate_predict before scoring. Reports both excl-noise and full-dataset ARI/NMI for honest comparison.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514600"/>
            <a:ext cx="402336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831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C55E"/>
                </a:solidFill>
                <a:latin typeface="Arial Black"/>
              </a:rPr>
              <a:t>Precomputed NN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88920"/>
            <a:ext cx="384048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Nearest-neighbor graph computed once and shared across both UMAP projections (15d clustering + 2d visualization), halving UMAP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Calibri"/>
              </a:rPr>
              <a:t>Also: cosine distance for centroid sampling | async LLM labeling | global random seeds | reusable scatter helper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  <a:latin typeface="Arial Black"/>
              </a:rPr>
              <a:t>DBCV: Density-Based Clustering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4A3B8"/>
                </a:solidFill>
                <a:latin typeface="Calibri"/>
              </a:rPr>
              <a:t>An internal validity metric designed for density-based clustering (Moulavi et al., 2014)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4206240" cy="2651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744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C3AED"/>
                </a:solidFill>
                <a:latin typeface="Arial Black"/>
              </a:rPr>
              <a:t>How DBCV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4023360" cy="2308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1. Build a minimum spanning tree within each cluster using mutual reachability distance (density-aware).
2. Measure intra-cluster density (how tight) vs inter-cluster density (how separated).
3. Per-cluster score: (separation - compactness) / max(both)
4. Global score: density-weighted average across all clusters.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05840"/>
            <a:ext cx="4206240" cy="2651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07442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C4899"/>
                </a:solidFill>
                <a:latin typeface="Arial Black"/>
              </a:rPr>
              <a:t>Why DBCV Is Needed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4023360" cy="2308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Circular evaluation: Selecting HDBSCAN parameters by ARI (ground-truth labels) is cheating — those labels won't exist in production.
Shape assumptions: Silhouette Score assumes convex clusters. HDBSCAN discovers arbitrary shapes.
Noise-aware: DBCV works with HDBSCAN's noise model; standard metrics don't handle noise points.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28800" y="38404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DBCV Range</a:t>
                      </a:r>
                    </a:p>
                  </a:txBody>
                  <a:tcPr>
                    <a:solidFill>
                      <a:srgbClr val="334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33405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0.75 – 1.0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Excellent — dense, well-separated clusters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0.50 – 0.75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Good — clear density structure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0.25 – 0.50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Moderate — some cluster overlap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&lt; 0.25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Weak to poor — clusters not well-defined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22C55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 Labeling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anonymous cluster IDs into meaningful, human-readable intent names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Implementation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pipeline in ~20 lines of Python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303520" cy="3931920"/>
          </a:xfrm>
          <a:prstGeom prst="rect">
            <a:avLst/>
          </a:prstGeom>
          <a:solidFill>
            <a:srgbClr val="1A1A2E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846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Embed utterances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sentence_transformers import SentenceTransformer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SentenceTransformer('all-MiniLM-L6-v2')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 model.encode(utterances)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Reduce dimensions (optional)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umap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reduced = umap.UMAP(n_components=50).fit_transform(embeddings)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Cluster with HDBSCAN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hdbscan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 = hdbscan.HDBSCAN(min_cluster_size=15).fit_predict(reduced)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Evaluate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sklearn.metrics import adjusted_rand_score, normalized_mutual_info_score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 = adjusted_rand_score(gt_labels, labels)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nmi = normalized_mutual_info_score(gt_labels, labels)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0" y="960120"/>
            <a:ext cx="2926080" cy="3931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0" y="1051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Libraries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26480" y="1463040"/>
            <a:ext cx="2560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sentence-transformers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HuggingFace-based embedding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hdbscan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Density-based clustering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umap-learn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Dimensionality reduction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scikit-learn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Metrics (ARI, NMI, Silhouette)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</a:rPr>
              <a:t>pip install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sentence-transformers hdbscan umap-learn scikit-learn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Fine-Tuning: Why &amp; How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a pre-trained sentence transformer to your domain dramatically improves cluster quality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Constructing Training Pairs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strategies for building (anchor, positive) pairs from your labeled data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MultipleNegativesRankingLoss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go-to contrastive loss for sentence transformer fine-tuning — free negatives from each batch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Fine-Tuning: Python Code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fine-tuning setup with sentence-transformers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303520" cy="3931920"/>
          </a:xfrm>
          <a:prstGeom prst="rect">
            <a:avLst/>
          </a:prstGeom>
          <a:solidFill>
            <a:srgbClr val="1A1A2E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846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Build training pairs from labeled data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sentence_transformers import (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SentenceTransformer, InputExample, losses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torch.utils.data import DataLoader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pairs = []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intent, utts in grouped_by_intent.items():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a, b in combinations(utts, 2):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pairs.append(InputExample(texts=[a, b]))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 = DataLoader(pairs, batch_size=128, shuffle=True)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Load base model + MNR loss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SentenceTransformer('all-MiniLM-L6-v2')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losses.MultipleNegativesRankingLoss(model)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Fine-tune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train_objectives=[(loader, loss)],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epochs=3,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warmup_steps=100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model.save("finetuned-model")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943600" y="960120"/>
            <a:ext cx="2926080" cy="3931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0" y="1051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26480" y="1463040"/>
            <a:ext cx="2560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1: Pair Mining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Sample all (a, b) from the same intent label using combinations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2: Loss Function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MNR Loss treats other pairs in the batch as automatic negatives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3: Training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1-3 epochs is usually sufficient; use warmup to stabilize early training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</a:rPr>
              <a:t>Batch size matters!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Larger batch = more in-batch negatives = better contrastive signal. Use 128+ if GPU memory allows.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"/>
            <a:ext cx="640080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FFFFFF"/>
                </a:solidFill>
                <a:latin typeface="Arial Black"/>
              </a:rPr>
              <a:t>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  <a:latin typeface="Arial Black"/>
              </a:rPr>
              <a:t>Fine-Tuning Results (v2 Pipeline)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4A3B8"/>
                </a:solidFill>
                <a:latin typeface="Calibri"/>
              </a:rPr>
              <a:t>Base all-MiniLM-L6-v2 vs fine-tuned model — each with its own DBCV-optimal HDBSCAN parameters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76400"/>
                <a:gridCol w="1676400"/>
                <a:gridCol w="1676400"/>
              </a:tblGrid>
              <a:tr h="27432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>
                    <a:solidFill>
                      <a:srgbClr val="334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Base Model</a:t>
                      </a:r>
                    </a:p>
                  </a:txBody>
                  <a:tcPr>
                    <a:solidFill>
                      <a:srgbClr val="334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Fine-Tuned</a:t>
                      </a:r>
                    </a:p>
                  </a:txBody>
                  <a:tcPr>
                    <a:solidFill>
                      <a:srgbClr val="334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33405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ARI vs Intent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0.6961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0.9203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C55E"/>
                          </a:solidFill>
                          <a:latin typeface="Calibri"/>
                        </a:rPr>
                        <a:t>+0.2242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NMI vs Intent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0.8751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0.9713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C55E"/>
                          </a:solidFill>
                          <a:latin typeface="Calibri"/>
                        </a:rPr>
                        <a:t>+0.0962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ARI vs Category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0.6317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0.4613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EF4444"/>
                          </a:solidFill>
                          <a:latin typeface="Calibri"/>
                        </a:rPr>
                        <a:t>-0.1704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NMI vs Category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0.8368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0.8110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EF4444"/>
                          </a:solidFill>
                          <a:latin typeface="Calibri"/>
                        </a:rPr>
                        <a:t>-0.0258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Clusters Found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C55E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Noise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EF4444"/>
                          </a:solidFill>
                          <a:latin typeface="Calibri"/>
                        </a:rPr>
                        <a:t>-17.0%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Mean Purity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C55E"/>
                          </a:solidFill>
                          <a:latin typeface="Calibri"/>
                        </a:rPr>
                        <a:t>+0.092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ADCFC"/>
                          </a:solidFill>
                          <a:latin typeface="Calibri"/>
                        </a:rPr>
                        <a:t>Embedding Separation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0.3987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0.6471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C55E"/>
                          </a:solidFill>
                          <a:latin typeface="Calibri"/>
                        </a:rPr>
                        <a:t>+0.2484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  <a:latin typeface="Calibri"/>
              </a:rPr>
              <a:t/>
            </a:r>
            <a:r>
              <a:rPr b="1" sz="1100">
                <a:solidFill>
                  <a:srgbClr val="F97316"/>
                </a:solidFill>
                <a:latin typeface="Calibri"/>
              </a:rPr>
              <a:t>Note: </a:t>
            </a:r>
            <a:r>
              <a:rPr sz="1100">
                <a:solidFill>
                  <a:srgbClr val="94A3B8"/>
                </a:solidFill>
                <a:latin typeface="Calibri"/>
              </a:rPr>
              <a:t>Results from the baseline pipeline (min_cluster_size=500, min_samples=10). Metrics are excl-noise. Re-run finetune_embeddings.ipynb with the v2 pipeline for DBCV scores and full-dataset metrics via approximate_predict.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  <a:latin typeface="Arial Black"/>
              </a:rPr>
              <a:t>Fine-Tuning: Key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822960"/>
            <a:ext cx="26517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15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4B8A6"/>
                </a:solidFill>
                <a:latin typeface="Arial Black"/>
              </a:rPr>
              <a:t>Tighter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246888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Fine-tuning pulls same-intent utterances closer together in embedding space, increasing intra-class cosine similarity and the gap between intra- and inter-class similarity.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822960"/>
            <a:ext cx="26517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8915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C55E"/>
                </a:solidFill>
                <a:latin typeface="Arial Black"/>
              </a:rPr>
              <a:t>Less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097280"/>
            <a:ext cx="246888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The base model had ~18.7% noise; fine-tuning drops this dramatically. v2's full-dataset eval via approximate_predict ensures a fair comparison that doesn't hide hard points.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822960"/>
            <a:ext cx="26517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8915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C3AED"/>
                </a:solidFill>
                <a:latin typeface="Arial Black"/>
              </a:rPr>
              <a:t>Per-Model 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097280"/>
            <a:ext cx="246888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ADCFC"/>
                </a:solidFill>
                <a:latin typeface="Calibri"/>
              </a:rPr>
              <a:t>v2 runs a separate DBCV parameter sweep for each embedding set. The optimal HDBSCAN config differs between base and fine-tuned because the density structure changes after training.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200400"/>
            <a:ext cx="859536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ADCFC"/>
                </a:solidFill>
                <a:latin typeface="Calibri"/>
              </a:rPr>
              <a:t>Training Configuration:  27K same-intent pairs  |  MultipleNegativesRankingLoss (InfoNCE)  |  3 epochs, batch 64, lr 2e-5  |  Stratified 80/20 split  |  TripletEvaluator on validation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Calibri"/>
              </a:rPr>
              <a:t>Category ARI may decrease because fine-tuning optimizes for intent-level separation (27 classes), which can oversplit the coarser 11-category grouping. This is expected and reflects the training objective.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 &amp; Next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685800" cy="6858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822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Embed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34640" y="82296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transformers capture semantic meaning in 384-dim vectors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685800" cy="6858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48132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148132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34640" y="148132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HDBSCAN + DBCV-based parameter sweep; ≤30 cluster constraint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139696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139696"/>
            <a:ext cx="685800" cy="6858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13969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139696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834640" y="2139696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DBCV (internal) + ARI/NMI on full dataset via approximate_predict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798064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2798064"/>
            <a:ext cx="685800" cy="6858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79806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2798064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Label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834640" y="2798064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for fast keyword labels; LLM prompting for richer descriptions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456432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3456432"/>
            <a:ext cx="685800" cy="6858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3456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345643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834640" y="3456432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MNR Loss + per-model DBCV sweep; fairer base vs fine-tuned comparison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206240"/>
            <a:ext cx="8229600" cy="59436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31520" y="4206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</a:rPr>
              <a:t>Ready to build?  </a:t>
            </a:r>
            <a:r>
              <a:rPr lang="en-US" sz="1200" dirty="0">
                <a:solidFill>
                  <a:srgbClr val="CADCFC"/>
                </a:solidFill>
              </a:rPr>
              <a:t>Upload your dataset and we can run the full pipeline — embedding, fine-tuning, clustering, and visualization.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824</Words>
  <Application>Microsoft Macintosh PowerPoint</Application>
  <PresentationFormat>On-screen Show (16:9)</PresentationFormat>
  <Paragraphs>147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Utterance Clustering Pipeline</dc:title>
  <dc:subject>PptxGenJS Presentation</dc:subject>
  <dc:creator>Daniel</dc:creator>
  <cp:lastModifiedBy>Chan, Daniel C</cp:lastModifiedBy>
  <cp:revision>1</cp:revision>
  <dcterms:created xsi:type="dcterms:W3CDTF">2026-02-15T20:18:50Z</dcterms:created>
  <dcterms:modified xsi:type="dcterms:W3CDTF">2026-02-15T20:26:27Z</dcterms:modified>
</cp:coreProperties>
</file>