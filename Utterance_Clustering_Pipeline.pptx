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72" r:id="rId23"/>
    <p:sldId id="273" r:id="rId24"/>
    <p:sldId id="265" r:id="rId11"/>
    <p:sldId id="266" r:id="rId12"/>
    <p:sldId id="267" r:id="rId13"/>
    <p:sldId id="268" r:id="rId14"/>
    <p:sldId id="269" r:id="rId15"/>
    <p:sldId id="270" r:id="rId16"/>
    <p:sldId id="274" r:id="rId25"/>
    <p:sldId id="275" r:id="rId26"/>
    <p:sldId id="271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8983"/>
    <p:restoredTop sz="94610"/>
  </p:normalViewPr>
  <p:slideViewPr>
    <p:cSldViewPr snapToGrid="0" snapToObjects="1">
      <p:cViewPr varScale="1">
        <p:scale>
          <a:sx n="342" d="100"/>
          <a:sy n="342" d="100"/>
        </p:scale>
        <p:origin x="168" y="22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19403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Utterance Clustering Pipeline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731520" y="201168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Raw Text to Labeled Intent Clusters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31520" y="2743200"/>
            <a:ext cx="3200400" cy="0"/>
          </a:xfrm>
          <a:prstGeom prst="line">
            <a:avLst/>
          </a:prstGeom>
          <a:noFill/>
          <a:ln w="254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31520" y="3200400"/>
            <a:ext cx="1828800" cy="822960"/>
          </a:xfrm>
          <a:prstGeom prst="rect">
            <a:avLst/>
          </a:prstGeom>
          <a:solidFill>
            <a:srgbClr val="1E293B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31520" y="3200400"/>
            <a:ext cx="640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14B8A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280160" y="3200400"/>
            <a:ext cx="1188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743200" y="3200400"/>
            <a:ext cx="1828800" cy="822960"/>
          </a:xfrm>
          <a:prstGeom prst="rect">
            <a:avLst/>
          </a:prstGeom>
          <a:solidFill>
            <a:srgbClr val="1E293B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743200" y="3200400"/>
            <a:ext cx="640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7C3AE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3291840" y="3200400"/>
            <a:ext cx="1188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754880" y="3200400"/>
            <a:ext cx="1828800" cy="822960"/>
          </a:xfrm>
          <a:prstGeom prst="rect">
            <a:avLst/>
          </a:prstGeom>
          <a:solidFill>
            <a:srgbClr val="1E293B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754880" y="3200400"/>
            <a:ext cx="640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EC489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5303520" y="3200400"/>
            <a:ext cx="1188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766560" y="3200400"/>
            <a:ext cx="1828800" cy="822960"/>
          </a:xfrm>
          <a:prstGeom prst="rect">
            <a:avLst/>
          </a:prstGeom>
          <a:solidFill>
            <a:srgbClr val="1E293B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766560" y="3200400"/>
            <a:ext cx="640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22C55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7315200" y="3200400"/>
            <a:ext cx="1188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31520" y="438912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→ Clustering → Evaluation → Labeling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Pipeline Overview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flow from raw utterances to a labeled intent taxonomy</a:t>
            </a:r>
            <a:endParaRPr lang="en-US" sz="13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097280"/>
            <a:ext cx="8595360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57200" y="182880"/>
            <a:ext cx="640080" cy="457200"/>
          </a:xfrm>
          <a:prstGeom prst="rect">
            <a:avLst/>
          </a:prstGeom>
          <a:solidFill>
            <a:srgbClr val="14B8A6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8288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280160" y="1828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Sentence Embedding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280160" y="640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 natural language into dense vector representations</a:t>
            </a:r>
            <a:endParaRPr lang="en-US" sz="13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051560"/>
            <a:ext cx="8595360" cy="39319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57200" y="182880"/>
            <a:ext cx="640080" cy="457200"/>
          </a:xfrm>
          <a:prstGeom prst="rect">
            <a:avLst/>
          </a:prstGeom>
          <a:solidFill>
            <a:srgbClr val="14B8A6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8288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280160" y="1828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How Sentence Transformers Work</a:t>
            </a:r>
            <a:endParaRPr lang="en-US" sz="28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822960"/>
            <a:ext cx="4754880" cy="29718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212080" y="822960"/>
            <a:ext cx="3657600" cy="297180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5394960" y="9144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4B8A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Model Details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394960" y="1371600"/>
            <a:ext cx="32918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all-MiniLM-L6-v2</a:t>
            </a:r>
            <a:endParaRPr lang="en-US" sz="1200" dirty="0"/>
          </a:p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6-layer transformer, 22M params
Fast inference, strong quality
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BGE-base-en-v1.5</a:t>
            </a:r>
            <a:endParaRPr lang="en-US" sz="1200" dirty="0"/>
          </a:p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12-layer, 110M params
Higher quality, slower
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F97316"/>
                </a:solidFill>
              </a:rPr>
              <a:t>Key Concept:</a:t>
            </a:r>
            <a:endParaRPr lang="en-US" sz="1200" dirty="0"/>
          </a:p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</a:rPr>
              <a:t>Mean pooling averages all token embeddings into a single fixed-size vector for the entire sentence.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57200" y="3977640"/>
            <a:ext cx="8229600" cy="777240"/>
          </a:xfrm>
          <a:prstGeom prst="rect">
            <a:avLst/>
          </a:prstGeom>
          <a:solidFill>
            <a:srgbClr val="1E293B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731520" y="4023360"/>
            <a:ext cx="7680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B8A6"/>
                </a:solidFill>
              </a:rPr>
              <a:t>Why Sentence Transformers?  </a:t>
            </a:r>
            <a:r>
              <a:rPr lang="en-US" sz="1100" dirty="0">
                <a:solidFill>
                  <a:srgbClr val="CADCFC"/>
                </a:solidFill>
              </a:rPr>
              <a:t>Unlike word2vec or bag-of-words, these models capture full semantic meaning. "How do I reset my password?" and "I can't log in" are nearby in vector space because they share intent, even with zero word overlap.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Dimensionality Reduction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UMAP preserves local neighborhood structure while reducing 384 dims to 2D for visualization</a:t>
            </a:r>
            <a:endParaRPr lang="en-US" sz="13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051560"/>
            <a:ext cx="8595360" cy="39319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57200" y="182880"/>
            <a:ext cx="640080" cy="457200"/>
          </a:xfrm>
          <a:prstGeom prst="rect">
            <a:avLst/>
          </a:prstGeom>
          <a:solidFill>
            <a:srgbClr val="7C3AED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8288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280160" y="1828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Clustering with HDBSCAN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280160" y="640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Density-based clustering that automatically finds the right number of groups</a:t>
            </a:r>
            <a:endParaRPr lang="en-US" sz="13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1005840"/>
            <a:ext cx="4846320" cy="3017520"/>
          </a:xfrm>
          <a:prstGeom prst="rect">
            <a:avLst/>
          </a:prstGeom>
        </p:spPr>
      </p:pic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1005840"/>
            <a:ext cx="3931920" cy="301752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457200" y="4114800"/>
            <a:ext cx="8229600" cy="731520"/>
          </a:xfrm>
          <a:prstGeom prst="rect">
            <a:avLst/>
          </a:prstGeom>
          <a:solidFill>
            <a:srgbClr val="1E293B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6"/>
          <p:cNvSpPr/>
          <p:nvPr/>
        </p:nvSpPr>
        <p:spPr>
          <a:xfrm>
            <a:off x="548640" y="41605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C3AED"/>
                </a:solidFill>
              </a:rPr>
              <a:t>Why HDBSCAN?  </a:t>
            </a:r>
            <a:r>
              <a:rPr lang="en-US" sz="1100" dirty="0">
                <a:solidFill>
                  <a:srgbClr val="CADCFC"/>
                </a:solidFill>
              </a:rPr>
              <a:t>It doesn't require you to guess k (the number of clusters) upfront. It builds a hierarchy of density-based clusters, extracts the most stable ones, and gracefully labels outliers as noise — perfect for messy real-world data.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Clustering Algorithm Comparison</a:t>
            </a:r>
            <a:endParaRPr lang="en-US" sz="28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777240"/>
            <a:ext cx="8595360" cy="42062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57200" y="182880"/>
            <a:ext cx="640080" cy="457200"/>
          </a:xfrm>
          <a:prstGeom prst="rect">
            <a:avLst/>
          </a:prstGeom>
          <a:solidFill>
            <a:srgbClr val="EC4899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8288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280160" y="1828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Evaluation Against Ground Truth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280160" y="640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Measuring clustering quality using ARI and NMI</a:t>
            </a:r>
            <a:endParaRPr lang="en-US" sz="13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051560"/>
            <a:ext cx="8595360" cy="39319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Metrics Deep Dive: ARI &amp; NMI</a:t>
            </a:r>
            <a:endParaRPr lang="en-US" sz="28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777240"/>
            <a:ext cx="8595360" cy="420624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57200" y="182880"/>
            <a:ext cx="640080" cy="457200"/>
          </a:xfrm>
          <a:prstGeom prst="rect">
            <a:avLst/>
          </a:prstGeom>
          <a:solidFill>
            <a:srgbClr val="22C55E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8288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280160" y="1828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Cluster Labeling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280160" y="640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anonymous cluster IDs into meaningful, human-readable intent names</a:t>
            </a:r>
            <a:endParaRPr lang="en-US" sz="13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051560"/>
            <a:ext cx="8595360" cy="393192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Python Implementation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pipeline in ~20 lines of Python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5303520" cy="3931920"/>
          </a:xfrm>
          <a:prstGeom prst="rect">
            <a:avLst/>
          </a:prstGeom>
          <a:solidFill>
            <a:srgbClr val="1A1A2E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94360" y="1051560"/>
            <a:ext cx="484632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9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1. Embed utterances</a:t>
            </a:r>
            <a:endParaRPr lang="en-US" sz="9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9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sentence_transformers import SentenceTransformer</a:t>
            </a:r>
            <a:endParaRPr lang="en-US" sz="9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9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 = SentenceTransformer('all-MiniLM-L6-v2')</a:t>
            </a:r>
            <a:endParaRPr lang="en-US" sz="9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9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embeddings = model.encode(utterances)</a:t>
            </a:r>
            <a:endParaRPr lang="en-US" sz="900" dirty="0"/>
          </a:p>
          <a:p>
            <a:pPr marL="0" indent="0">
              <a:spcAft>
                <a:spcPts val="200"/>
              </a:spcAft>
              <a:buNone/>
            </a:pPr>
            <a:endParaRPr lang="en-US" sz="9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9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2. Reduce dimensions (optional)</a:t>
            </a:r>
            <a:endParaRPr lang="en-US" sz="9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9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umap</a:t>
            </a:r>
            <a:endParaRPr lang="en-US" sz="9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9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reduced = umap.UMAP(n_components=50).fit_transform(embeddings)</a:t>
            </a:r>
            <a:endParaRPr lang="en-US" sz="900" dirty="0"/>
          </a:p>
          <a:p>
            <a:pPr marL="0" indent="0">
              <a:spcAft>
                <a:spcPts val="200"/>
              </a:spcAft>
              <a:buNone/>
            </a:pPr>
            <a:endParaRPr lang="en-US" sz="9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9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3. Cluster with HDBSCAN</a:t>
            </a:r>
            <a:endParaRPr lang="en-US" sz="9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9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hdbscan</a:t>
            </a:r>
            <a:endParaRPr lang="en-US" sz="9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9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labels = hdbscan.HDBSCAN(min_cluster_size=15).fit_predict(reduced)</a:t>
            </a:r>
            <a:endParaRPr lang="en-US" sz="900" dirty="0"/>
          </a:p>
          <a:p>
            <a:pPr marL="0" indent="0">
              <a:spcAft>
                <a:spcPts val="200"/>
              </a:spcAft>
              <a:buNone/>
            </a:pPr>
            <a:endParaRPr lang="en-US" sz="9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9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4. Evaluate</a:t>
            </a:r>
            <a:endParaRPr lang="en-US" sz="9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9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sklearn.metrics import adjusted_rand_score, normalized_mutual_info_score</a:t>
            </a:r>
            <a:endParaRPr lang="en-US" sz="9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9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ari = adjusted_rand_score(gt_labels, labels)</a:t>
            </a:r>
            <a:endParaRPr lang="en-US" sz="9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9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nmi = normalized_mutual_info_score(gt_labels, labels)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943600" y="960120"/>
            <a:ext cx="2926080" cy="393192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126480" y="10515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4B8A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Key Libraries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126480" y="1463040"/>
            <a:ext cx="25603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sentence-transformers</a:t>
            </a:r>
            <a:endParaRPr lang="en-US" sz="1100" dirty="0"/>
          </a:p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HuggingFace-based embedding
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hdbscan</a:t>
            </a:r>
            <a:endParaRPr lang="en-US" sz="1100" dirty="0"/>
          </a:p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Density-based clustering
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umap-learn</a:t>
            </a:r>
            <a:endParaRPr lang="en-US" sz="1100" dirty="0"/>
          </a:p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Dimensionality reduction
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scikit-learn</a:t>
            </a:r>
            <a:endParaRPr lang="en-US" sz="1100" dirty="0"/>
          </a:p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Metrics (ARI, NMI, Silhouette)
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F97316"/>
                </a:solidFill>
              </a:rPr>
              <a:t>pip install</a:t>
            </a:r>
            <a:endParaRPr lang="en-US" sz="1100" dirty="0"/>
          </a:p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</a:rPr>
              <a:t>sentence-transformers hdbscan umap-learn scikit-learn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57200" y="182880"/>
            <a:ext cx="640080" cy="457200"/>
          </a:xfrm>
          <a:prstGeom prst="rect">
            <a:avLst/>
          </a:prstGeom>
          <a:solidFill>
            <a:srgbClr val="F97316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8288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FT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280160" y="1828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Fine-Tuning: Why &amp; How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280160" y="640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Adapting a pre-trained sentence transformer to your domain dramatically improves cluster quality</a:t>
            </a:r>
            <a:endParaRPr lang="en-US" sz="13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051560"/>
            <a:ext cx="8595360" cy="393192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57200" y="182880"/>
            <a:ext cx="640080" cy="457200"/>
          </a:xfrm>
          <a:prstGeom prst="rect">
            <a:avLst/>
          </a:prstGeom>
          <a:solidFill>
            <a:srgbClr val="F97316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8288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FT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280160" y="1828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Constructing Training Pairs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280160" y="640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strategies for building (anchor, positive) pairs from your labeled data</a:t>
            </a:r>
            <a:endParaRPr lang="en-US" sz="13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051560"/>
            <a:ext cx="8595360" cy="393192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57200" y="182880"/>
            <a:ext cx="640080" cy="457200"/>
          </a:xfrm>
          <a:prstGeom prst="rect">
            <a:avLst/>
          </a:prstGeom>
          <a:solidFill>
            <a:srgbClr val="F97316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8288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FT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280160" y="1828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MultipleNegativesRankingLoss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280160" y="640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go-to contrastive loss for sentence transformer fine-tuning — free negatives from each batch</a:t>
            </a:r>
            <a:endParaRPr lang="en-US" sz="13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051560"/>
            <a:ext cx="8595360" cy="393192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Fine-Tuning: Python Code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fine-tuning setup with sentence-transformers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5303520" cy="3931920"/>
          </a:xfrm>
          <a:prstGeom prst="rect">
            <a:avLst/>
          </a:prstGeom>
          <a:solidFill>
            <a:srgbClr val="1A1A2E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94360" y="1051560"/>
            <a:ext cx="484632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8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1. Build training pairs from labeled data</a:t>
            </a:r>
            <a:endParaRPr lang="en-US" sz="8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8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sentence_transformers import (</a:t>
            </a:r>
            <a:endParaRPr lang="en-US" sz="8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8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SentenceTransformer, InputExample, losses</a:t>
            </a:r>
            <a:endParaRPr lang="en-US" sz="8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8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8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8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torch.utils.data import DataLoader</a:t>
            </a:r>
            <a:endParaRPr lang="en-US" sz="850" dirty="0"/>
          </a:p>
          <a:p>
            <a:pPr marL="0" indent="0">
              <a:spcAft>
                <a:spcPts val="200"/>
              </a:spcAft>
              <a:buNone/>
            </a:pPr>
            <a:endParaRPr lang="en-US" sz="8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8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pairs = []</a:t>
            </a:r>
            <a:endParaRPr lang="en-US" sz="8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8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intent, utts in grouped_by_intent.items():</a:t>
            </a:r>
            <a:endParaRPr lang="en-US" sz="8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8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for a, b in combinations(utts, 2):</a:t>
            </a:r>
            <a:endParaRPr lang="en-US" sz="8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8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pairs.append(InputExample(texts=[a, b]))</a:t>
            </a:r>
            <a:endParaRPr lang="en-US" sz="850" dirty="0"/>
          </a:p>
          <a:p>
            <a:pPr marL="0" indent="0">
              <a:spcAft>
                <a:spcPts val="200"/>
              </a:spcAft>
              <a:buNone/>
            </a:pPr>
            <a:endParaRPr lang="en-US" sz="8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8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loader = DataLoader(pairs, batch_size=128, shuffle=True)</a:t>
            </a:r>
            <a:endParaRPr lang="en-US" sz="850" dirty="0"/>
          </a:p>
          <a:p>
            <a:pPr marL="0" indent="0">
              <a:spcAft>
                <a:spcPts val="200"/>
              </a:spcAft>
              <a:buNone/>
            </a:pPr>
            <a:endParaRPr lang="en-US" sz="8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8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2. Load base model + MNR loss</a:t>
            </a:r>
            <a:endParaRPr lang="en-US" sz="8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8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 = SentenceTransformer('all-MiniLM-L6-v2')</a:t>
            </a:r>
            <a:endParaRPr lang="en-US" sz="8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8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loss = losses.MultipleNegativesRankingLoss(model)</a:t>
            </a:r>
            <a:endParaRPr lang="en-US" sz="850" dirty="0"/>
          </a:p>
          <a:p>
            <a:pPr marL="0" indent="0">
              <a:spcAft>
                <a:spcPts val="200"/>
              </a:spcAft>
              <a:buNone/>
            </a:pPr>
            <a:endParaRPr lang="en-US" sz="8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8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3. Fine-tune</a:t>
            </a:r>
            <a:endParaRPr lang="en-US" sz="8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8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model.fit(</a:t>
            </a:r>
            <a:endParaRPr lang="en-US" sz="8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8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train_objectives=[(loader, loss)],</a:t>
            </a:r>
            <a:endParaRPr lang="en-US" sz="8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8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epochs=3,</a:t>
            </a:r>
            <a:endParaRPr lang="en-US" sz="8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8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warmup_steps=100</a:t>
            </a:r>
            <a:endParaRPr lang="en-US" sz="8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8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8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8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model.save("finetuned-model")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0" y="960120"/>
            <a:ext cx="2926080" cy="393192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126480" y="10515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F9731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How It Works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126480" y="1463040"/>
            <a:ext cx="25603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Step 1: Pair Mining</a:t>
            </a:r>
            <a:endParaRPr lang="en-US" sz="1100" dirty="0"/>
          </a:p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Sample all (a, b) from the same intent label using combinations
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Step 2: Loss Function</a:t>
            </a:r>
            <a:endParaRPr lang="en-US" sz="1100" dirty="0"/>
          </a:p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MNR Loss treats other pairs in the batch as automatic negatives
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Step 3: Training</a:t>
            </a:r>
            <a:endParaRPr lang="en-US" sz="1100" dirty="0"/>
          </a:p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1-3 epochs is usually sufficient; use warmup to stabilize early training
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F97316"/>
                </a:solidFill>
              </a:rPr>
              <a:t>Batch size matters!</a:t>
            </a:r>
            <a:endParaRPr lang="en-US" sz="1100" dirty="0"/>
          </a:p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</a:rPr>
              <a:t>Larger batch = more in-batch negatives = better contrastive signal. Use 128+ if GPU memory allows.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Summary &amp; Next Steps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685800"/>
          </a:xfrm>
          <a:prstGeom prst="rect">
            <a:avLst/>
          </a:prstGeom>
          <a:solidFill>
            <a:srgbClr val="1E293B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822960"/>
            <a:ext cx="685800" cy="685800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8229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371600" y="82296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4B8A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Embed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834640" y="822960"/>
            <a:ext cx="5669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 transformers capture semantic meaning in 384-dim vectors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1481328"/>
            <a:ext cx="8229600" cy="685800"/>
          </a:xfrm>
          <a:prstGeom prst="rect">
            <a:avLst/>
          </a:prstGeom>
          <a:solidFill>
            <a:srgbClr val="1E293B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57200" y="1481328"/>
            <a:ext cx="685800" cy="68580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57200" y="1481328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371600" y="1481328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7C3AE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Cluster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834640" y="1481328"/>
            <a:ext cx="5669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HDBSCAN + DBCV-based parameter sweep; ≤30 cluster constraint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2139696"/>
            <a:ext cx="8229600" cy="685800"/>
          </a:xfrm>
          <a:prstGeom prst="rect">
            <a:avLst/>
          </a:prstGeom>
          <a:solidFill>
            <a:srgbClr val="1E293B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57200" y="2139696"/>
            <a:ext cx="685800" cy="685800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57200" y="2139696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371600" y="2139696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EC489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Evaluate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2834640" y="2139696"/>
            <a:ext cx="5669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DBCV (internal) + ARI/NMI on full dataset via approximate_predict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7200" y="2798064"/>
            <a:ext cx="8229600" cy="685800"/>
          </a:xfrm>
          <a:prstGeom prst="rect">
            <a:avLst/>
          </a:prstGeom>
          <a:solidFill>
            <a:srgbClr val="1E293B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57200" y="2798064"/>
            <a:ext cx="685800" cy="685800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57200" y="2798064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371600" y="2798064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22C55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Label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2834640" y="2798064"/>
            <a:ext cx="5669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for fast keyword labels; LLM prompting for richer descriptions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57200" y="3456432"/>
            <a:ext cx="8229600" cy="685800"/>
          </a:xfrm>
          <a:prstGeom prst="rect">
            <a:avLst/>
          </a:prstGeom>
          <a:solidFill>
            <a:srgbClr val="1E293B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57200" y="3456432"/>
            <a:ext cx="685800" cy="685800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57200" y="3456432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FT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1371600" y="3456432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F9731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Fine-Tune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2834640" y="3456432"/>
            <a:ext cx="5669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MNR Loss + per-model DBCV sweep; fairer base vs fine-tuned comparison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57200" y="4206240"/>
            <a:ext cx="8229600" cy="594360"/>
          </a:xfrm>
          <a:prstGeom prst="rect">
            <a:avLst/>
          </a:prstGeom>
          <a:solidFill>
            <a:srgbClr val="14B8A6">
              <a:alpha val="15000"/>
            </a:srgbClr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731520" y="4206240"/>
            <a:ext cx="7680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B8A6"/>
                </a:solidFill>
              </a:rPr>
              <a:t>Ready to build?  </a:t>
            </a:r>
            <a:r>
              <a:rPr lang="en-US" sz="1200" dirty="0">
                <a:solidFill>
                  <a:srgbClr val="CADCFC"/>
                </a:solidFill>
              </a:rPr>
              <a:t>Upload your dataset and we can run the full pipeline — embedding, fine-tuning, clustering, and visualization.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182880"/>
            <a:ext cx="640080" cy="45720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>
                <a:solidFill>
                  <a:srgbClr val="FFFFFF"/>
                </a:solidFill>
                <a:latin typeface="Arial Black"/>
              </a:rPr>
              <a:t>V2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1828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0">
                <a:solidFill>
                  <a:srgbClr val="FFFFFF"/>
                </a:solidFill>
                <a:latin typeface="Arial Black"/>
              </a:rPr>
              <a:t>v2 Pipeline Improvements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64008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94A3B8"/>
                </a:solidFill>
                <a:latin typeface="Calibri"/>
              </a:rPr>
              <a:t>Key methodological and performance improvements over the baseline clustering pipeline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1051560"/>
            <a:ext cx="4023360" cy="128016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120140"/>
            <a:ext cx="3840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7C3AED"/>
                </a:solidFill>
                <a:latin typeface="Arial Black"/>
              </a:rPr>
              <a:t>DBCV-Based Selection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325880"/>
            <a:ext cx="3840480" cy="9372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CADCFC"/>
                </a:solidFill>
                <a:latin typeface="Calibri"/>
              </a:rPr>
              <a:t>Replaced ARI (circular, uses labels) with DBCV — an internal validity metric that evaluates clustering quality from data geometry alone, with no label leakage.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1051560"/>
            <a:ext cx="4023360" cy="128016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120140"/>
            <a:ext cx="3840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14B8A6"/>
                </a:solidFill>
                <a:latin typeface="Arial Black"/>
              </a:rPr>
              <a:t>3D Parameter Sweep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1325880"/>
            <a:ext cx="3840480" cy="9372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CADCFC"/>
                </a:solidFill>
                <a:latin typeface="Calibri"/>
              </a:rPr>
              <a:t>Expanded from 5 configs (min_cluster_size only) to 64 configs (min_cluster_size x min_samples x epsilon). Constrained to &lt;= 30 clusters.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4320" y="2514600"/>
            <a:ext cx="4023360" cy="128016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2583180"/>
            <a:ext cx="3840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EC4899"/>
                </a:solidFill>
                <a:latin typeface="Arial Black"/>
              </a:rPr>
              <a:t>Full-Dataset Evaluation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2788920"/>
            <a:ext cx="3840480" cy="9372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CADCFC"/>
                </a:solidFill>
                <a:latin typeface="Calibri"/>
              </a:rPr>
              <a:t>Noise points assigned via approximate_predict before scoring. Reports both excl-noise and full-dataset ARI/NMI for honest comparison.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80560" y="2514600"/>
            <a:ext cx="4023360" cy="128016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0" y="2583180"/>
            <a:ext cx="3840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22C55E"/>
                </a:solidFill>
                <a:latin typeface="Arial Black"/>
              </a:rPr>
              <a:t>Precomputed NN Graph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2788920"/>
            <a:ext cx="3840480" cy="9372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CADCFC"/>
                </a:solidFill>
                <a:latin typeface="Calibri"/>
              </a:rPr>
              <a:t>Nearest-neighbor graph computed once and shared across both UMAP projections (15d clustering + 2d visualization), halving UMAP time.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94A3B8"/>
                </a:solidFill>
                <a:latin typeface="Calibri"/>
              </a:rPr>
              <a:t>Also: cosine distance for centroid sampling | async LLM labeling | global random seeds | reusable scatter helper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0">
                <a:solidFill>
                  <a:srgbClr val="FFFFFF"/>
                </a:solidFill>
                <a:latin typeface="Arial Black"/>
              </a:rPr>
              <a:t>DBCV: Density-Based Clustering 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94A3B8"/>
                </a:solidFill>
                <a:latin typeface="Calibri"/>
              </a:rPr>
              <a:t>An internal validity metric designed for density-based clustering (Moulavi et al., 2014)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005840"/>
            <a:ext cx="4206240" cy="265176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074420"/>
            <a:ext cx="4023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7C3AED"/>
                </a:solidFill>
                <a:latin typeface="Arial Black"/>
              </a:rPr>
              <a:t>How DBCV Works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280160"/>
            <a:ext cx="4023360" cy="23088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CADCFC"/>
                </a:solidFill>
                <a:latin typeface="Calibri"/>
              </a:rPr>
              <a:t>1. Build a minimum spanning tree within each cluster using mutual reachability distance (density-aware).
2. Measure intra-cluster density (how tight) vs inter-cluster density (how separated).
3. Per-cluster score: (separation - compactness) / max(both)
4. Global score: density-weighted average across all clusters.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63440" y="1005840"/>
            <a:ext cx="4206240" cy="265176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0" y="1074420"/>
            <a:ext cx="4023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EC4899"/>
                </a:solidFill>
                <a:latin typeface="Arial Black"/>
              </a:rPr>
              <a:t>Why DBCV Is Needed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1280160"/>
            <a:ext cx="4023360" cy="23088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CADCFC"/>
                </a:solidFill>
                <a:latin typeface="Calibri"/>
              </a:rPr>
              <a:t>Circular evaluation: Selecting HDBSCAN parameters by ARI (ground-truth labels) is cheating — those labels won't exist in production.
Shape assumptions: Silhouette Score assumes convex clusters. HDBSCAN discovers arbitrary shapes.
Noise-aware: DBCV works with HDBSCAN's noise model; standard metrics don't handle noise points.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1828800" y="3840480"/>
          <a:ext cx="54864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3657600"/>
              </a:tblGrid>
              <a:tr h="27432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DBCV Range</a:t>
                      </a:r>
                    </a:p>
                  </a:txBody>
                  <a:tcPr>
                    <a:solidFill>
                      <a:srgbClr val="33405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Interpretation</a:t>
                      </a:r>
                    </a:p>
                  </a:txBody>
                  <a:tcPr>
                    <a:solidFill>
                      <a:srgbClr val="334055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CADCFC"/>
                          </a:solidFill>
                          <a:latin typeface="Calibri"/>
                        </a:rPr>
                        <a:t>0.75 – 1.0</a:t>
                      </a:r>
                    </a:p>
                  </a:txBody>
                  <a:tcPr>
                    <a:solidFill>
                      <a:srgbClr val="1621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CADCFC"/>
                          </a:solidFill>
                          <a:latin typeface="Calibri"/>
                        </a:rPr>
                        <a:t>Excellent — dense, well-separated clusters</a:t>
                      </a:r>
                    </a:p>
                  </a:txBody>
                  <a:tcPr>
                    <a:solidFill>
                      <a:srgbClr val="162133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CADCFC"/>
                          </a:solidFill>
                          <a:latin typeface="Calibri"/>
                        </a:rPr>
                        <a:t>0.50 – 0.75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CADCFC"/>
                          </a:solidFill>
                          <a:latin typeface="Calibri"/>
                        </a:rPr>
                        <a:t>Good — clear density structure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CADCFC"/>
                          </a:solidFill>
                          <a:latin typeface="Calibri"/>
                        </a:rPr>
                        <a:t>0.25 – 0.50</a:t>
                      </a:r>
                    </a:p>
                  </a:txBody>
                  <a:tcPr>
                    <a:solidFill>
                      <a:srgbClr val="1621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CADCFC"/>
                          </a:solidFill>
                          <a:latin typeface="Calibri"/>
                        </a:rPr>
                        <a:t>Moderate — some cluster overlap</a:t>
                      </a:r>
                    </a:p>
                  </a:txBody>
                  <a:tcPr>
                    <a:solidFill>
                      <a:srgbClr val="162133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CADCFC"/>
                          </a:solidFill>
                          <a:latin typeface="Calibri"/>
                        </a:rPr>
                        <a:t>&lt; 0.25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CADCFC"/>
                          </a:solidFill>
                          <a:latin typeface="Calibri"/>
                        </a:rPr>
                        <a:t>Weak to poor — clusters not well-defined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182880"/>
            <a:ext cx="640080" cy="457200"/>
          </a:xfrm>
          <a:prstGeom prst="round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>
                <a:solidFill>
                  <a:srgbClr val="FFFFFF"/>
                </a:solidFill>
                <a:latin typeface="Arial Black"/>
              </a:rPr>
              <a:t>FT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1828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0">
                <a:solidFill>
                  <a:srgbClr val="FFFFFF"/>
                </a:solidFill>
                <a:latin typeface="Arial Black"/>
              </a:rPr>
              <a:t>Fine-Tuning Results (v2 Pipeline)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64008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94A3B8"/>
                </a:solidFill>
                <a:latin typeface="Calibri"/>
              </a:rPr>
              <a:t>Base all-MiniLM-L6-v2 vs fine-tuned model — each with its own DBCV-optimal HDBSCAN parameters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005840"/>
          <a:ext cx="822960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1676400"/>
                <a:gridCol w="1676400"/>
                <a:gridCol w="1676400"/>
              </a:tblGrid>
              <a:tr h="27432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Metric</a:t>
                      </a:r>
                    </a:p>
                  </a:txBody>
                  <a:tcPr>
                    <a:solidFill>
                      <a:srgbClr val="33405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Base Model</a:t>
                      </a:r>
                    </a:p>
                  </a:txBody>
                  <a:tcPr>
                    <a:solidFill>
                      <a:srgbClr val="33405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Fine-Tuned</a:t>
                      </a:r>
                    </a:p>
                  </a:txBody>
                  <a:tcPr>
                    <a:solidFill>
                      <a:srgbClr val="33405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Delta</a:t>
                      </a:r>
                    </a:p>
                  </a:txBody>
                  <a:tcPr>
                    <a:solidFill>
                      <a:srgbClr val="334055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CADCFC"/>
                          </a:solidFill>
                          <a:latin typeface="Calibri"/>
                        </a:rPr>
                        <a:t>DBCV (internal)</a:t>
                      </a:r>
                    </a:p>
                  </a:txBody>
                  <a:tcPr>
                    <a:solidFill>
                      <a:srgbClr val="1621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CADCFC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1621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CADCFC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1621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CADCFC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162133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CADCFC"/>
                          </a:solidFill>
                          <a:latin typeface="Calibri"/>
                        </a:rPr>
                        <a:t>ARI vs Intent (full dataset)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CADCFC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CADCFC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CADCFC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CADCFC"/>
                          </a:solidFill>
                          <a:latin typeface="Calibri"/>
                        </a:rPr>
                        <a:t>NMI vs Intent (full dataset)</a:t>
                      </a:r>
                    </a:p>
                  </a:txBody>
                  <a:tcPr>
                    <a:solidFill>
                      <a:srgbClr val="1621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CADCFC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1621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CADCFC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1621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CADCFC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162133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CADCFC"/>
                          </a:solidFill>
                          <a:latin typeface="Calibri"/>
                        </a:rPr>
                        <a:t>ARI vs Category (full dataset)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CADCFC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CADCFC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CADCFC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CADCFC"/>
                          </a:solidFill>
                          <a:latin typeface="Calibri"/>
                        </a:rPr>
                        <a:t>Clusters Found</a:t>
                      </a:r>
                    </a:p>
                  </a:txBody>
                  <a:tcPr>
                    <a:solidFill>
                      <a:srgbClr val="1621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CADCFC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1621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CADCFC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1621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CADCFC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162133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CADCFC"/>
                          </a:solidFill>
                          <a:latin typeface="Calibri"/>
                        </a:rPr>
                        <a:t>Noise 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CADCFC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CADCFC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CADCFC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CADCFC"/>
                          </a:solidFill>
                          <a:latin typeface="Calibri"/>
                        </a:rPr>
                        <a:t>Mean Purity (full dataset)</a:t>
                      </a:r>
                    </a:p>
                  </a:txBody>
                  <a:tcPr>
                    <a:solidFill>
                      <a:srgbClr val="1621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CADCFC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1621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CADCFC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1621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CADCFC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162133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CADCFC"/>
                          </a:solidFill>
                          <a:latin typeface="Calibri"/>
                        </a:rPr>
                        <a:t>Embedding Separation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CADCFC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CADCFC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CADCFC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41148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94A3B8"/>
                </a:solidFill>
                <a:latin typeface="Calibri"/>
              </a:rPr>
              <a:t/>
            </a:r>
            <a:r>
              <a:rPr b="1" sz="1100">
                <a:solidFill>
                  <a:srgbClr val="F97316"/>
                </a:solidFill>
                <a:latin typeface="Calibri"/>
              </a:rPr>
              <a:t>Note: </a:t>
            </a:r>
            <a:r>
              <a:rPr sz="1100">
                <a:solidFill>
                  <a:srgbClr val="94A3B8"/>
                </a:solidFill>
                <a:latin typeface="Calibri"/>
              </a:rPr>
              <a:t>Values marked '—' will be populated after running finetune_embeddings.ipynb with the v2 pipeline. Each model gets its own DBCV-optimal parameters — no more hardcoded min_cluster_size=500. Full-dataset metrics include noise points assigned via approximate_predict.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0">
                <a:solidFill>
                  <a:srgbClr val="FFFFFF"/>
                </a:solidFill>
                <a:latin typeface="Arial Black"/>
              </a:rPr>
              <a:t>Fine-Tuning: Key Takeaways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822960"/>
            <a:ext cx="2651760" cy="219456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89154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14B8A6"/>
                </a:solidFill>
                <a:latin typeface="Arial Black"/>
              </a:rPr>
              <a:t>Tighter Clusters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097280"/>
            <a:ext cx="2468880" cy="1851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CADCFC"/>
                </a:solidFill>
                <a:latin typeface="Calibri"/>
              </a:rPr>
              <a:t>Fine-tuning pulls same-intent utterances closer together in embedding space, increasing intra-class cosine similarity and the gap between intra- and inter-class similarity.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108960" y="822960"/>
            <a:ext cx="2651760" cy="219456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0" y="89154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22C55E"/>
                </a:solidFill>
                <a:latin typeface="Arial Black"/>
              </a:rPr>
              <a:t>Less Noise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1097280"/>
            <a:ext cx="2468880" cy="1851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CADCFC"/>
                </a:solidFill>
                <a:latin typeface="Calibri"/>
              </a:rPr>
              <a:t>The base model had ~18.7% noise; fine-tuning drops this dramatically. v2's full-dataset eval via approximate_predict ensures a fair comparison that doesn't hide hard points.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0" y="822960"/>
            <a:ext cx="2651760" cy="219456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35040" y="89154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7C3AED"/>
                </a:solidFill>
                <a:latin typeface="Arial Black"/>
              </a:rPr>
              <a:t>Per-Model Tuning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0" y="1097280"/>
            <a:ext cx="2468880" cy="1851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CADCFC"/>
                </a:solidFill>
                <a:latin typeface="Calibri"/>
              </a:rPr>
              <a:t>v2 runs a separate DBCV parameter sweep for each embedding set. The optimal HDBSCAN config differs between base and fine-tuned because the density structure changes after training.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" y="3200400"/>
            <a:ext cx="8595360" cy="128016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3832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CADCFC"/>
                </a:solidFill>
                <a:latin typeface="Calibri"/>
              </a:rPr>
              <a:t>Training Configuration:  27K same-intent pairs  |  MultipleNegativesRankingLoss (InfoNCE)  |  3 epochs, batch 64, lr 2e-5  |  Stratified 80/20 split  |  TripletEvaluator on validation set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94A3B8"/>
                </a:solidFill>
                <a:latin typeface="Calibri"/>
              </a:rPr>
              <a:t>Category ARI may decrease because fine-tuning optimizes for intent-level separation (27 classes), which can oversplit the coarser 11-category grouping. This is expected and reflects the training objective.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824</Words>
  <Application>Microsoft Macintosh PowerPoint</Application>
  <PresentationFormat>On-screen Show (16:9)</PresentationFormat>
  <Paragraphs>147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Arial Black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Utterance Clustering Pipeline</dc:title>
  <dc:subject>PptxGenJS Presentation</dc:subject>
  <dc:creator>Daniel</dc:creator>
  <cp:lastModifiedBy>Chan, Daniel C</cp:lastModifiedBy>
  <cp:revision>1</cp:revision>
  <dcterms:created xsi:type="dcterms:W3CDTF">2026-02-15T20:18:50Z</dcterms:created>
  <dcterms:modified xsi:type="dcterms:W3CDTF">2026-02-15T20:26:27Z</dcterms:modified>
</cp:coreProperties>
</file>